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19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matrusri.edu.in/" TargetMode="External"/><Relationship Id="rId5" Type="http://schemas.openxmlformats.org/officeDocument/2006/relationships/hyperlink" Target="mailto:hodcse@matrusri.edu.in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53078"/>
            <a:ext cx="10728655" cy="2011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  <a:defRPr sz="4800" b="1">
                <a:solidFill>
                  <a:srgbClr val="64FFDA"/>
                </a:solidFill>
                <a:latin typeface="Segoe UI"/>
              </a:defRPr>
            </a:pPr>
            <a:r>
              <a:t>CITYBUS</a:t>
            </a:r>
          </a:p>
          <a:p>
            <a:pPr algn="l">
              <a:spcAft>
                <a:spcPts val="8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Live Public Transport Tracking &amp; Fleet Management System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892B0"/>
                </a:solidFill>
                <a:latin typeface="Segoe UI"/>
              </a:defRPr>
            </a:pPr>
            <a:r>
              <a:t>Real-Time Telemetry, Adaptive Mapping, and Progressive Web App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Under the Guidance of:                          Presented By: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8892B0"/>
                </a:solidFill>
                <a:latin typeface="Segoe UI"/>
              </a:defRPr>
            </a:pPr>
            <a:r>
              <a:rPr dirty="0"/>
              <a:t>Mrs. P. Uma Maheshwari                           [Your Name] ([Your Roll No])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892B0"/>
                </a:solidFill>
                <a:latin typeface="Segoe UI"/>
              </a:defRPr>
            </a:pPr>
            <a:r>
              <a:rPr dirty="0"/>
              <a:t>Assistant Professor                              Batch No: D24 | Project Review - II</a:t>
            </a:r>
          </a:p>
        </p:txBody>
      </p:sp>
      <p:sp>
        <p:nvSpPr>
          <p:cNvPr id="6" name="object 2" descr="$PPTXTitle">
            <a:extLst>
              <a:ext uri="{FF2B5EF4-FFF2-40B4-BE49-F238E27FC236}">
                <a16:creationId xmlns:a16="http://schemas.microsoft.com/office/drawing/2014/main" id="{1561E38B-8FBB-4BBB-844D-051208A528C9}"/>
              </a:ext>
            </a:extLst>
          </p:cNvPr>
          <p:cNvSpPr txBox="1">
            <a:spLocks/>
          </p:cNvSpPr>
          <p:nvPr/>
        </p:nvSpPr>
        <p:spPr>
          <a:xfrm>
            <a:off x="3657552" y="273211"/>
            <a:ext cx="4329402" cy="442768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206">
              <a:spcBef>
                <a:spcPts val="93"/>
              </a:spcBef>
            </a:pPr>
            <a:r>
              <a:rPr lang="en-US" sz="2800">
                <a:solidFill>
                  <a:srgbClr val="FF0000"/>
                </a:solidFill>
              </a:rPr>
              <a:t>Matrusri</a:t>
            </a:r>
            <a:r>
              <a:rPr lang="en-US" sz="2800" spc="-66">
                <a:solidFill>
                  <a:srgbClr val="FF0000"/>
                </a:solidFill>
              </a:rPr>
              <a:t> </a:t>
            </a:r>
            <a:r>
              <a:rPr lang="en-US" sz="2800">
                <a:solidFill>
                  <a:srgbClr val="FF0000"/>
                </a:solidFill>
              </a:rPr>
              <a:t>Engineering</a:t>
            </a:r>
            <a:r>
              <a:rPr lang="en-US" sz="2800" spc="-79">
                <a:solidFill>
                  <a:srgbClr val="FF0000"/>
                </a:solidFill>
              </a:rPr>
              <a:t> </a:t>
            </a:r>
            <a:r>
              <a:rPr lang="en-US" sz="2800" spc="-9">
                <a:solidFill>
                  <a:srgbClr val="FF0000"/>
                </a:solidFill>
              </a:rPr>
              <a:t>College</a:t>
            </a:r>
            <a:endParaRPr lang="en-US" sz="2800" spc="-9" dirty="0">
              <a:solidFill>
                <a:srgbClr val="FF0000"/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3B98BD3-4247-4099-825B-4E178BC62627}"/>
              </a:ext>
            </a:extLst>
          </p:cNvPr>
          <p:cNvSpPr txBox="1"/>
          <p:nvPr/>
        </p:nvSpPr>
        <p:spPr>
          <a:xfrm>
            <a:off x="3634310" y="788569"/>
            <a:ext cx="4242547" cy="459352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92190" algn="ctr">
              <a:spcBef>
                <a:spcPts val="101"/>
              </a:spcBef>
            </a:pP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(Sponsored</a:t>
            </a:r>
            <a:r>
              <a:rPr sz="971" b="1" spc="-22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by:</a:t>
            </a:r>
            <a:r>
              <a:rPr sz="971" b="1" spc="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MATRUSRI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ERDUCATION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18" dirty="0">
                <a:solidFill>
                  <a:srgbClr val="528034"/>
                </a:solidFill>
                <a:latin typeface="Calibri"/>
                <a:cs typeface="Calibri"/>
              </a:rPr>
              <a:t>SOCIETY,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Estd:</a:t>
            </a:r>
            <a:r>
              <a:rPr sz="971" b="1" spc="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1980)</a:t>
            </a:r>
            <a:endParaRPr sz="971" dirty="0">
              <a:latin typeface="Calibri"/>
              <a:cs typeface="Calibri"/>
            </a:endParaRPr>
          </a:p>
          <a:p>
            <a:pPr marL="658941" marR="4483" indent="-648295">
              <a:lnSpc>
                <a:spcPct val="100899"/>
              </a:lnSpc>
              <a:spcBef>
                <a:spcPts val="9"/>
              </a:spcBef>
            </a:pP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An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Autonomous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Institution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|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Approved</a:t>
            </a:r>
            <a:r>
              <a:rPr sz="971" b="1" spc="-22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by AICTE,</a:t>
            </a:r>
            <a:r>
              <a:rPr sz="971" b="1" spc="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Affiliated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to Osmania</a:t>
            </a:r>
            <a:r>
              <a:rPr sz="971" b="1" spc="-18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University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#</a:t>
            </a:r>
            <a:r>
              <a:rPr sz="971" b="1" spc="4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16-1-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486,</a:t>
            </a:r>
            <a:r>
              <a:rPr sz="971" b="1" spc="40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Saidabad,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Hyderabad-500059. Ph: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040-24072764</a:t>
            </a:r>
            <a:endParaRPr sz="971" dirty="0">
              <a:latin typeface="Calibri"/>
              <a:cs typeface="Calibri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22D64DA7-9FFD-429E-8ACD-578E920AD6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420" y="366378"/>
            <a:ext cx="1020244" cy="931774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A1A54356-182B-4B90-9374-F54642B7A2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7502" y="369415"/>
            <a:ext cx="1144336" cy="927846"/>
          </a:xfrm>
          <a:prstGeom prst="rect">
            <a:avLst/>
          </a:prstGeom>
        </p:spPr>
      </p:pic>
      <p:pic>
        <p:nvPicPr>
          <p:cNvPr id="10" name="object 6">
            <a:extLst>
              <a:ext uri="{FF2B5EF4-FFF2-40B4-BE49-F238E27FC236}">
                <a16:creationId xmlns:a16="http://schemas.microsoft.com/office/drawing/2014/main" id="{69D405A6-8753-40F2-B56A-002263A514B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29037" y="364539"/>
            <a:ext cx="1034078" cy="896919"/>
          </a:xfrm>
          <a:prstGeom prst="rect">
            <a:avLst/>
          </a:prstGeom>
        </p:spPr>
      </p:pic>
      <p:sp>
        <p:nvSpPr>
          <p:cNvPr id="11" name="object 8">
            <a:extLst>
              <a:ext uri="{FF2B5EF4-FFF2-40B4-BE49-F238E27FC236}">
                <a16:creationId xmlns:a16="http://schemas.microsoft.com/office/drawing/2014/main" id="{CBB563AD-9F97-457D-AEA5-86C808741A25}"/>
              </a:ext>
            </a:extLst>
          </p:cNvPr>
          <p:cNvSpPr txBox="1"/>
          <p:nvPr/>
        </p:nvSpPr>
        <p:spPr>
          <a:xfrm>
            <a:off x="2453420" y="1294640"/>
            <a:ext cx="7262858" cy="51236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R="361409" algn="ctr">
              <a:spcBef>
                <a:spcPts val="84"/>
              </a:spcBef>
            </a:pP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Department</a:t>
            </a:r>
            <a:r>
              <a:rPr sz="1897" b="1" spc="-57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of</a:t>
            </a:r>
            <a:r>
              <a:rPr sz="1897" b="1" spc="-53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Computer</a:t>
            </a:r>
            <a:r>
              <a:rPr sz="1897" b="1" spc="-71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Science</a:t>
            </a:r>
            <a:r>
              <a:rPr sz="1897" b="1" spc="-44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and</a:t>
            </a:r>
            <a:r>
              <a:rPr sz="1897" b="1" spc="-3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spc="-9" dirty="0">
                <a:solidFill>
                  <a:srgbClr val="0070BF"/>
                </a:solidFill>
                <a:latin typeface="Calibri"/>
                <a:cs typeface="Calibri"/>
              </a:rPr>
              <a:t>Engineering</a:t>
            </a:r>
            <a:endParaRPr sz="1897" dirty="0">
              <a:latin typeface="Calibri"/>
              <a:cs typeface="Calibri"/>
            </a:endParaRPr>
          </a:p>
          <a:p>
            <a:pPr marL="11206">
              <a:spcBef>
                <a:spcPts val="88"/>
              </a:spcBef>
              <a:tabLst>
                <a:tab pos="5154981" algn="l"/>
              </a:tabLst>
            </a:pPr>
            <a:r>
              <a:rPr sz="1279" dirty="0">
                <a:latin typeface="Calibri"/>
                <a:cs typeface="Calibri"/>
              </a:rPr>
              <a:t>Email-ID:</a:t>
            </a:r>
            <a:r>
              <a:rPr sz="1279" spc="71" dirty="0">
                <a:latin typeface="Calibri"/>
                <a:cs typeface="Calibri"/>
              </a:rPr>
              <a:t> </a:t>
            </a:r>
            <a:r>
              <a:rPr sz="1279" spc="-9" dirty="0">
                <a:latin typeface="Calibri"/>
                <a:cs typeface="Calibri"/>
                <a:hlinkClick r:id="rId5"/>
              </a:rPr>
              <a:t>hodcse@matrusri.edu.in</a:t>
            </a:r>
            <a:r>
              <a:rPr sz="1279" dirty="0">
                <a:latin typeface="Calibri"/>
                <a:cs typeface="Calibri"/>
              </a:rPr>
              <a:t>	</a:t>
            </a:r>
            <a:r>
              <a:rPr sz="1279" dirty="0" err="1">
                <a:latin typeface="Calibri"/>
                <a:cs typeface="Calibri"/>
              </a:rPr>
              <a:t>Website:</a:t>
            </a:r>
            <a:r>
              <a:rPr sz="1279" spc="-9" dirty="0" err="1">
                <a:latin typeface="Calibri"/>
                <a:cs typeface="Calibri"/>
                <a:hlinkClick r:id="rId6"/>
              </a:rPr>
              <a:t>www.matrusri.edu.in</a:t>
            </a:r>
            <a:endParaRPr sz="1279" dirty="0">
              <a:latin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E06C5-56EE-4FBC-9AF1-8045936EA538}"/>
              </a:ext>
            </a:extLst>
          </p:cNvPr>
          <p:cNvSpPr/>
          <p:nvPr/>
        </p:nvSpPr>
        <p:spPr>
          <a:xfrm>
            <a:off x="1752600" y="364539"/>
            <a:ext cx="9315450" cy="164714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bject 2" descr="$PPTXTitle">
            <a:extLst>
              <a:ext uri="{FF2B5EF4-FFF2-40B4-BE49-F238E27FC236}">
                <a16:creationId xmlns:a16="http://schemas.microsoft.com/office/drawing/2014/main" id="{F3F0FB4F-B8BC-4AEF-80AD-2420008CB359}"/>
              </a:ext>
            </a:extLst>
          </p:cNvPr>
          <p:cNvSpPr txBox="1">
            <a:spLocks/>
          </p:cNvSpPr>
          <p:nvPr/>
        </p:nvSpPr>
        <p:spPr>
          <a:xfrm>
            <a:off x="3809952" y="425611"/>
            <a:ext cx="4329402" cy="442768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206">
              <a:spcBef>
                <a:spcPts val="93"/>
              </a:spcBef>
            </a:pPr>
            <a:r>
              <a:rPr lang="en-US" sz="2800">
                <a:solidFill>
                  <a:srgbClr val="FF0000"/>
                </a:solidFill>
              </a:rPr>
              <a:t>Matrusri</a:t>
            </a:r>
            <a:r>
              <a:rPr lang="en-US" sz="2800" spc="-66">
                <a:solidFill>
                  <a:srgbClr val="FF0000"/>
                </a:solidFill>
              </a:rPr>
              <a:t> </a:t>
            </a:r>
            <a:r>
              <a:rPr lang="en-US" sz="2800">
                <a:solidFill>
                  <a:srgbClr val="FF0000"/>
                </a:solidFill>
              </a:rPr>
              <a:t>Engineering</a:t>
            </a:r>
            <a:r>
              <a:rPr lang="en-US" sz="2800" spc="-79">
                <a:solidFill>
                  <a:srgbClr val="FF0000"/>
                </a:solidFill>
              </a:rPr>
              <a:t> </a:t>
            </a:r>
            <a:r>
              <a:rPr lang="en-US" sz="2800" spc="-9">
                <a:solidFill>
                  <a:srgbClr val="FF0000"/>
                </a:solidFill>
              </a:rPr>
              <a:t>College</a:t>
            </a:r>
            <a:endParaRPr lang="en-US" sz="2800" spc="-9" dirty="0">
              <a:solidFill>
                <a:srgbClr val="FF0000"/>
              </a:solidFill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F0462BB5-F5B8-455D-B346-A2CAFF1E1E41}"/>
              </a:ext>
            </a:extLst>
          </p:cNvPr>
          <p:cNvSpPr txBox="1"/>
          <p:nvPr/>
        </p:nvSpPr>
        <p:spPr>
          <a:xfrm>
            <a:off x="3786710" y="940969"/>
            <a:ext cx="4242547" cy="459352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92190" algn="ctr">
              <a:spcBef>
                <a:spcPts val="101"/>
              </a:spcBef>
            </a:pP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(Sponsored</a:t>
            </a:r>
            <a:r>
              <a:rPr sz="971" b="1" spc="-22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by:</a:t>
            </a:r>
            <a:r>
              <a:rPr sz="971" b="1" spc="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MATRUSRI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ERDUCATION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18" dirty="0">
                <a:solidFill>
                  <a:srgbClr val="528034"/>
                </a:solidFill>
                <a:latin typeface="Calibri"/>
                <a:cs typeface="Calibri"/>
              </a:rPr>
              <a:t>SOCIETY,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Estd:</a:t>
            </a:r>
            <a:r>
              <a:rPr sz="971" b="1" spc="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1980)</a:t>
            </a:r>
            <a:endParaRPr sz="971" dirty="0">
              <a:latin typeface="Calibri"/>
              <a:cs typeface="Calibri"/>
            </a:endParaRPr>
          </a:p>
          <a:p>
            <a:pPr marL="658941" marR="4483" indent="-648295">
              <a:lnSpc>
                <a:spcPct val="100899"/>
              </a:lnSpc>
              <a:spcBef>
                <a:spcPts val="9"/>
              </a:spcBef>
            </a:pP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An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Autonomous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Institution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|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Approved</a:t>
            </a:r>
            <a:r>
              <a:rPr sz="971" b="1" spc="-22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by AICTE,</a:t>
            </a:r>
            <a:r>
              <a:rPr sz="971" b="1" spc="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Affiliated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to Osmania</a:t>
            </a:r>
            <a:r>
              <a:rPr sz="971" b="1" spc="-18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University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#</a:t>
            </a:r>
            <a:r>
              <a:rPr sz="971" b="1" spc="4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16-1-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486,</a:t>
            </a:r>
            <a:r>
              <a:rPr sz="971" b="1" spc="40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Saidabad,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dirty="0">
                <a:solidFill>
                  <a:srgbClr val="528034"/>
                </a:solidFill>
                <a:latin typeface="Calibri"/>
                <a:cs typeface="Calibri"/>
              </a:rPr>
              <a:t>Hyderabad-500059. Ph:</a:t>
            </a:r>
            <a:r>
              <a:rPr sz="971" b="1" spc="-13" dirty="0">
                <a:solidFill>
                  <a:srgbClr val="528034"/>
                </a:solidFill>
                <a:latin typeface="Calibri"/>
                <a:cs typeface="Calibri"/>
              </a:rPr>
              <a:t> </a:t>
            </a:r>
            <a:r>
              <a:rPr sz="971" b="1" spc="-9" dirty="0">
                <a:solidFill>
                  <a:srgbClr val="528034"/>
                </a:solidFill>
                <a:latin typeface="Calibri"/>
                <a:cs typeface="Calibri"/>
              </a:rPr>
              <a:t>040-24072764</a:t>
            </a:r>
            <a:endParaRPr sz="971" dirty="0">
              <a:latin typeface="Calibri"/>
              <a:cs typeface="Calibri"/>
            </a:endParaRPr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35496CF3-66AC-4649-807F-276BE9C0E1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5820" y="518778"/>
            <a:ext cx="1020244" cy="931774"/>
          </a:xfrm>
          <a:prstGeom prst="rect">
            <a:avLst/>
          </a:prstGeom>
        </p:spPr>
      </p:pic>
      <p:pic>
        <p:nvPicPr>
          <p:cNvPr id="16" name="object 5">
            <a:extLst>
              <a:ext uri="{FF2B5EF4-FFF2-40B4-BE49-F238E27FC236}">
                <a16:creationId xmlns:a16="http://schemas.microsoft.com/office/drawing/2014/main" id="{1D76BD2A-6CD4-476F-8A63-E99FAAB65B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9902" y="521815"/>
            <a:ext cx="1144336" cy="927846"/>
          </a:xfrm>
          <a:prstGeom prst="rect">
            <a:avLst/>
          </a:prstGeom>
        </p:spPr>
      </p:pic>
      <p:pic>
        <p:nvPicPr>
          <p:cNvPr id="17" name="object 6">
            <a:extLst>
              <a:ext uri="{FF2B5EF4-FFF2-40B4-BE49-F238E27FC236}">
                <a16:creationId xmlns:a16="http://schemas.microsoft.com/office/drawing/2014/main" id="{B1A34C59-E2E0-44C1-8516-CFC7E1E391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81437" y="516939"/>
            <a:ext cx="1034078" cy="896919"/>
          </a:xfrm>
          <a:prstGeom prst="rect">
            <a:avLst/>
          </a:prstGeom>
        </p:spPr>
      </p:pic>
      <p:sp>
        <p:nvSpPr>
          <p:cNvPr id="18" name="object 8">
            <a:extLst>
              <a:ext uri="{FF2B5EF4-FFF2-40B4-BE49-F238E27FC236}">
                <a16:creationId xmlns:a16="http://schemas.microsoft.com/office/drawing/2014/main" id="{EB1C79C1-4EE0-45C6-B061-1FA2251628D2}"/>
              </a:ext>
            </a:extLst>
          </p:cNvPr>
          <p:cNvSpPr txBox="1"/>
          <p:nvPr/>
        </p:nvSpPr>
        <p:spPr>
          <a:xfrm>
            <a:off x="2605820" y="1447040"/>
            <a:ext cx="7262858" cy="51236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R="361409" algn="ctr">
              <a:spcBef>
                <a:spcPts val="84"/>
              </a:spcBef>
            </a:pP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Department</a:t>
            </a:r>
            <a:r>
              <a:rPr sz="1897" b="1" spc="-57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of</a:t>
            </a:r>
            <a:r>
              <a:rPr sz="1897" b="1" spc="-53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Computer</a:t>
            </a:r>
            <a:r>
              <a:rPr sz="1897" b="1" spc="-71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Science</a:t>
            </a:r>
            <a:r>
              <a:rPr sz="1897" b="1" spc="-44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dirty="0">
                <a:solidFill>
                  <a:srgbClr val="0070BF"/>
                </a:solidFill>
                <a:latin typeface="Calibri"/>
                <a:cs typeface="Calibri"/>
              </a:rPr>
              <a:t>and</a:t>
            </a:r>
            <a:r>
              <a:rPr sz="1897" b="1" spc="-35" dirty="0">
                <a:solidFill>
                  <a:srgbClr val="0070BF"/>
                </a:solidFill>
                <a:latin typeface="Calibri"/>
                <a:cs typeface="Calibri"/>
              </a:rPr>
              <a:t> </a:t>
            </a:r>
            <a:r>
              <a:rPr sz="1897" b="1" spc="-9" dirty="0">
                <a:solidFill>
                  <a:srgbClr val="0070BF"/>
                </a:solidFill>
                <a:latin typeface="Calibri"/>
                <a:cs typeface="Calibri"/>
              </a:rPr>
              <a:t>Engineering</a:t>
            </a:r>
            <a:endParaRPr sz="1897" dirty="0">
              <a:latin typeface="Calibri"/>
              <a:cs typeface="Calibri"/>
            </a:endParaRPr>
          </a:p>
          <a:p>
            <a:pPr marL="11206">
              <a:spcBef>
                <a:spcPts val="88"/>
              </a:spcBef>
              <a:tabLst>
                <a:tab pos="5154981" algn="l"/>
              </a:tabLst>
            </a:pPr>
            <a:r>
              <a:rPr sz="1279" dirty="0">
                <a:latin typeface="Calibri"/>
                <a:cs typeface="Calibri"/>
              </a:rPr>
              <a:t>Email-ID:</a:t>
            </a:r>
            <a:r>
              <a:rPr sz="1279" spc="71" dirty="0">
                <a:latin typeface="Calibri"/>
                <a:cs typeface="Calibri"/>
              </a:rPr>
              <a:t> </a:t>
            </a:r>
            <a:r>
              <a:rPr sz="1279" spc="-9" dirty="0">
                <a:latin typeface="Calibri"/>
                <a:cs typeface="Calibri"/>
                <a:hlinkClick r:id="rId5"/>
              </a:rPr>
              <a:t>hodcse@matrusri.edu.in</a:t>
            </a:r>
            <a:r>
              <a:rPr sz="1279" dirty="0">
                <a:latin typeface="Calibri"/>
                <a:cs typeface="Calibri"/>
              </a:rPr>
              <a:t>	</a:t>
            </a:r>
            <a:r>
              <a:rPr sz="1279" dirty="0" err="1">
                <a:latin typeface="Calibri"/>
                <a:cs typeface="Calibri"/>
              </a:rPr>
              <a:t>Website:</a:t>
            </a:r>
            <a:r>
              <a:rPr sz="1279" spc="-9" dirty="0" err="1">
                <a:latin typeface="Calibri"/>
                <a:cs typeface="Calibri"/>
                <a:hlinkClick r:id="rId6"/>
              </a:rPr>
              <a:t>www.matrusri.edu.in</a:t>
            </a:r>
            <a:endParaRPr sz="1279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Problem Definition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Problem Definition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Unpredictable Transit wait times: Commuters lack real-time bus locations, leading to massive schedules uncertainty.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Manual telemetry &amp; load logs: Operators track cabins capacity and duty timelines on paper sheets, causing delayed data updates.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High proprietary GPS costs: Fleet authorities rely on expensive proprietary hardware, avoiding software solutions.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Low network reliability: Web applications freeze or fail in low-bandwidth regions due to rigid mapping dependencies.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Lack of Simulative Testbeds: Live route calculations can't be debugged locally without driving actual roads.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Objectives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Commuter Map Tracking: Deliver interactive route maps, bus markers, stop lists, and calculated coordinates-based ETAs.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Mobile Driver Console: Build a duty console streaming speed, coordinates, and manual occupant counts in real time.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Fleet Control Console: Provision an admin center mapping active vehicles and database configurations.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Connection Adaptive Engine: Dynamically swap from Google Maps to Leaflet Maps under low-network alerts.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Resilient Dual-Sync Mode: Sync to Firestore if online, or fall back to client-side physics loop simulations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Software Specifications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Frontend: React 18, Vite bundling tooling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Styling: Tailwind CSS 3, PostCSS, Vanilla CSS3 variables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State &amp; Routing: React Router DOM 6, Custom Contexts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Database (Cloud): Firebase Cloud Firestore (Real-time NoSQL)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Authentication: Firebase Authentication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PWA Support: Vite PWA Plugin, Service Workers, Workbox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API Integrations: Google Maps JS API, Leaflet / OpenStreetMap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Offline Database: Browser LocalStorage Client Cache</a:t>
            </a:r>
          </a:p>
          <a:p>
            <a:pPr lvl="1" algn="l">
              <a:spcAft>
                <a:spcPts val="6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Development Tools: VS Code, Git / GitHub, Windows 10/11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Hardware Specifications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Development Processor: Intel Core i5/i7 (or equivalent) or higher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Development RAM: 8 GB minimum (16 GB recommended)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Development Storage: 256 GB SSD (minimum 5 GB free space)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Internet Connection: Broadband for sync setup; 3G/4G/5G mobile data for field coordinates simulation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End-User Device: Android smartphone, tablet, or iOS phone running a modern browser (Chrome, Safari, Firefox)</a:t>
            </a:r>
          </a:p>
          <a:p>
            <a:pPr lvl="1" algn="l">
              <a:spcAft>
                <a:spcPts val="8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Geolocation Node: Device built-in GPS/GNSS receiver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Existing System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Existing Transit Systems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Timetable PDF Sheets: Display rigid scheduling charts. Provide no actual status on traffic delays or cancellations.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Official Tracking Apps (e.g. Gamyam): Provide coordinates mapping, but lack web PWA compatibility, working strictly on heavy app-store downloads.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Hardware GPS Trackers: Require mounting proprietary tracking devices inside transit frames, costing high implementation investments.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Limitations &amp; Disadvantages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No Active Driver Console: Standard drivers cannot feed GPS frames or log cabin occupant densities using a simple mobile UI.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Heavy Bandwidth Needs: Advanced vector maps crash completely on rural routes under weak carrier signals.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Hard API Key Dependencies: The passenger mapping screens fail to render if external mapping quotas expire.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No Offline Simulation Mode: Testing route layouts requires live on-road vehicles with active internet syncs.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Proposed System: Key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Dynamic Dual-Mode Synchronization Engine</a:t>
            </a:r>
          </a:p>
          <a:p>
            <a:pPr lvl="1" algn="l">
              <a:spcAft>
                <a:spcPts val="1200"/>
              </a:spcAft>
              <a:defRPr sz="1400" b="0">
                <a:solidFill>
                  <a:srgbClr val="4A5568"/>
                </a:solidFill>
                <a:latin typeface="Segoe UI"/>
              </a:defRPr>
            </a:pPr>
            <a:r>
              <a:t>Adapts dynamically: connects to Firebase Cloud Firestore for real-time live coordinate relays, or triggers client-side local database simulations offline.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Connection-Aware Mapping Framework</a:t>
            </a:r>
          </a:p>
          <a:p>
            <a:pPr lvl="1" algn="l">
              <a:spcAft>
                <a:spcPts val="1200"/>
              </a:spcAft>
              <a:defRPr sz="1400" b="0">
                <a:solidFill>
                  <a:srgbClr val="4A5568"/>
                </a:solidFill>
                <a:latin typeface="Segoe UI"/>
              </a:defRPr>
            </a:pPr>
            <a:r>
              <a:t>Continuously monitors cellular network status and automatically hot-swaps resource-heavy Google Maps for a lightweight Leaflet mapping environment.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High-Contrast Mobile Driver Duty Console</a:t>
            </a:r>
          </a:p>
          <a:p>
            <a:pPr lvl="1" algn="l">
              <a:spcAft>
                <a:spcPts val="1200"/>
              </a:spcAft>
              <a:defRPr sz="1400" b="0">
                <a:solidFill>
                  <a:srgbClr val="4A5568"/>
                </a:solidFill>
                <a:latin typeface="Segoe UI"/>
              </a:defRPr>
            </a:pPr>
            <a:r>
              <a:t>Responsive cabin dashboard built for operators. Streams coordinates and provides large touch buttons to increment and decrement bus load ratios.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Centralized Admin Control Room</a:t>
            </a:r>
          </a:p>
          <a:p>
            <a:pPr lvl="1" algn="l">
              <a:spcAft>
                <a:spcPts val="0"/>
              </a:spcAft>
              <a:defRPr sz="1400" b="0">
                <a:solidFill>
                  <a:srgbClr val="4A5568"/>
                </a:solidFill>
                <a:latin typeface="Segoe UI"/>
              </a:defRPr>
            </a:pPr>
            <a:r>
              <a:t>Gives dispatchers full control: live map tracking, data seeding, incident management, and detailed CRUD editors for buses, drivers, stops, and schedules.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System Architecture: Layout &amp;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1. User Roles (Client Interfaces)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Passenger UI (Route finder, live markers, stop sheets) | Driver UI (Telemetry streamer, logging console) | Admin UI (CRUD controls, global tracking)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2. React Application &amp; Context Layer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AuthContext (Manages passenger, driver, and admin security states) | BusContext (Coordinates stops, routes, and active vehicles list) | MapContext (Coordinates bounds and map viewports)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3. Service Adapters &amp; Streaming Libraries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mapsService.js (Coordinates Google Maps/Leaflet swaps) | gpsService.js (Controls HTML5 geolocation watcher) | realTransitData.js (Parses GTFS schedules) | busSimulator.js (Interpolates coordinates locally)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4. Persistent Database Layer</a:t>
            </a:r>
          </a:p>
          <a:p>
            <a:pPr lvl="1" algn="l">
              <a:spcAft>
                <a:spcPts val="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Cloud Firestore (Real-time NoSQL streaming websockets) | Browser LocalStorage (Local offline seeding fallback cache)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Methodology &amp; Development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Phase 1: Transit Data Ingestion &amp; Normalization</a:t>
            </a:r>
          </a:p>
          <a:p>
            <a:pPr lvl="1" algn="l">
              <a:spcAft>
                <a:spcPts val="12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Parses raw TGSRTC GTFS schedules (.txt files containing routes, stops, schedules). Standardizes CSV matrices using custom parser scripts (realTransitData.js) and maps them into structured database rows.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Phase 2: Low-Overhead Telemetry Capture</a:t>
            </a:r>
          </a:p>
          <a:p>
            <a:pPr lvl="1" algn="l">
              <a:spcAft>
                <a:spcPts val="12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Configures the Geolocation watcher to fire on coordinate drift. Batches telemetry commits to the database to keep write counts minimal while maintaining high location accuracy.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Phase 3: Connection-Quality Monitoring</a:t>
            </a:r>
          </a:p>
          <a:p>
            <a:pPr lvl="1" algn="l">
              <a:spcAft>
                <a:spcPts val="12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Builds connection checkers (useConnectionQuality.js) to monitor connection status and ping times. Triggers an automatic switch from Google Maps to Leaflet maps on poor connection warnings.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Phase 4: Client-Side Simulation Engine</a:t>
            </a:r>
          </a:p>
          <a:p>
            <a:pPr lvl="1" algn="l">
              <a:spcAft>
                <a:spcPts val="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Integrates a client simulator (busSimulator.js) for testing in low-connectivity areas. Uses coordinate interpolation to simulate normal bus movements along routes offline.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Implementation &amp; Code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rPr dirty="0"/>
              <a:t>Code Architecture &amp; Services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rPr dirty="0"/>
              <a:t>State Context Layers: </a:t>
            </a:r>
            <a:r>
              <a:rPr dirty="0" err="1"/>
              <a:t>AuthContext.jsx</a:t>
            </a:r>
            <a:r>
              <a:rPr dirty="0"/>
              <a:t> manages roles and sessions; </a:t>
            </a:r>
            <a:r>
              <a:rPr dirty="0" err="1"/>
              <a:t>BusContext.jsx</a:t>
            </a:r>
            <a:r>
              <a:rPr dirty="0"/>
              <a:t> handles routes and stops updates.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rPr dirty="0"/>
              <a:t>Coordinate Services: gpsService.js streams coordinate packages; mapsService.js handles Google Maps and Leaflet bindings.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rPr dirty="0"/>
              <a:t>Data Seeding Module: firebase.js sets up batch database writers; seedData.js coordinates mock route databases.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rPr dirty="0"/>
              <a:t>Helper Methods: geoUtils.js calculates Haversine distances, bearings, and location offsets for transit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319795"/>
                </a:solidFill>
                <a:latin typeface="Segoe UI"/>
              </a:defRPr>
            </a:pPr>
            <a:r>
              <a:t>Implementation Progress &amp; Status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PWA Configuration: Offline page caching config is completed via the Vite PWA plugin, enabling offline application startup.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Database Seeding Control: Admin controls can seed regional Hyderabad route stops with a single click.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Real-Time Syncing: WebSocket pipelines for passenger map displays and driver telemetry trackers are operational.</a:t>
            </a:r>
          </a:p>
          <a:p>
            <a:pPr lvl="1" algn="l">
              <a:spcAft>
                <a:spcPts val="10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Responsive Designs: Dark-mode driver interfaces and mobile-friendly passenger views are completed using HSL color styling.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Interface Screenshots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03120"/>
          </a:xfrm>
          <a:prstGeom prst="roundRect">
            <a:avLst/>
          </a:prstGeom>
          <a:solidFill>
            <a:srgbClr val="E6EBF5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PASSENGER HOME SCREEN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A5568"/>
                </a:solidFill>
                <a:latin typeface="Segoe UI"/>
              </a:defRPr>
            </a:pPr>
            <a:r>
              <a:t>[Insert screenshot showing route selection autocomplete boxes, favorite route cards, and the bottom scrolling announcements ticker.]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029200" cy="2103120"/>
          </a:xfrm>
          <a:prstGeom prst="roundRect">
            <a:avLst/>
          </a:prstGeom>
          <a:solidFill>
            <a:srgbClr val="E6EBF5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PASSENGER LIVE TRACKING MAP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A5568"/>
                </a:solidFill>
                <a:latin typeface="Segoe UI"/>
              </a:defRPr>
            </a:pPr>
            <a:r>
              <a:t>[Insert screenshot showing the active map view, route paths, moving bus markers, and the real-time ETA information card.]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029200" cy="2103120"/>
          </a:xfrm>
          <a:prstGeom prst="roundRect">
            <a:avLst/>
          </a:prstGeom>
          <a:solidFill>
            <a:srgbClr val="E6EBF5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DRIVER TELEMETRY CONSOLE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A5568"/>
                </a:solidFill>
                <a:latin typeface="Segoe UI"/>
              </a:defRPr>
            </a:pPr>
            <a:r>
              <a:t>[Insert screenshot of the dark-mode driver dashboard showing the active journey state, speed, compass heading, and passenger count buttons.]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5029200" cy="2103120"/>
          </a:xfrm>
          <a:prstGeom prst="roundRect">
            <a:avLst/>
          </a:prstGeom>
          <a:solidFill>
            <a:srgbClr val="E6EBF5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A365D"/>
                </a:solidFill>
                <a:latin typeface="Segoe UI"/>
              </a:defRPr>
            </a:pPr>
            <a:r>
              <a:t>ADMIN CONTROL ROOM DASHBOARD</a:t>
            </a:r>
          </a:p>
          <a:p>
            <a:pPr algn="ctr">
              <a:spcAft>
                <a:spcPts val="0"/>
              </a:spcAft>
              <a:defRPr sz="1100" b="0">
                <a:solidFill>
                  <a:srgbClr val="4A5568"/>
                </a:solidFill>
                <a:latin typeface="Segoe UI"/>
              </a:defRPr>
            </a:pPr>
            <a:r>
              <a:t>[Insert screenshot of the admin control room dashboard showing the system metrics cards, database seeding panel, and CRUD editor grids.]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Segoe UI"/>
              </a:defRPr>
            </a:pPr>
            <a:r>
              <a:t>Future Scope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8655" cy="36576"/>
          </a:xfrm>
          <a:prstGeom prst="rect">
            <a:avLst/>
          </a:prstGeom>
          <a:solidFill>
            <a:srgbClr val="319795"/>
          </a:solidFill>
          <a:ln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Machine Learning-Based ETA Predictions</a:t>
            </a:r>
          </a:p>
          <a:p>
            <a:pPr lvl="1" algn="l">
              <a:spcAft>
                <a:spcPts val="12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Incorporate machine learning regressors directly into the coordinates tracker, analyzing historical ride logs and time-of-day traffic to improve ETA forecasting.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Multi-Modal Public Transit Integration</a:t>
            </a:r>
          </a:p>
          <a:p>
            <a:pPr lvl="1" algn="l">
              <a:spcAft>
                <a:spcPts val="12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Expand dataset ingestion modules to include regional MMTS train systems and the Hyderabad Metro Rail network, enabling seamless cross-transit trip planning.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Deviations &amp; Disruption Alerts Dispatcher</a:t>
            </a:r>
          </a:p>
          <a:p>
            <a:pPr lvl="1" algn="l">
              <a:spcAft>
                <a:spcPts val="120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Build algorithmic watchers to trigger alerts on the Admin Console if a driver deviates from the path coordinates, generating warnings automatically.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319795"/>
                </a:solidFill>
                <a:latin typeface="Segoe UI"/>
              </a:defRPr>
            </a:pPr>
            <a:r>
              <a:t>Unified QR-Code Ticketing Systems</a:t>
            </a:r>
          </a:p>
          <a:p>
            <a:pPr lvl="1" algn="l">
              <a:spcAft>
                <a:spcPts val="0"/>
              </a:spcAft>
              <a:defRPr sz="1300" b="0">
                <a:solidFill>
                  <a:srgbClr val="4A5568"/>
                </a:solidFill>
                <a:latin typeface="Segoe UI"/>
              </a:defRPr>
            </a:pPr>
            <a:r>
              <a:t>Integrate QR payment widgets inside the Passenger Portal, enabling paperless ticketing verified by driver scanners at stop gates.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800"/>
              </a:spcAft>
              <a:defRPr sz="2400" b="1">
                <a:solidFill>
                  <a:srgbClr val="64FFDA"/>
                </a:solidFill>
                <a:latin typeface="Segoe UI"/>
              </a:defRPr>
            </a:pPr>
            <a:r>
              <a:t>CONCLUSION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Hardware-Independent Telemetry: CityBus successfully replaces expensive specialized GPS black boxes with driver-owned mobile devices, making transit tracking highly accessible.</a:t>
            </a:r>
          </a:p>
          <a:p>
            <a:pPr algn="l">
              <a:spcAft>
                <a:spcPts val="1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High Reliability: PWA capabilities and dynamic Leaflet fallbacks enable the application to work reliably, even in weak rural signals.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Operations Simplified: Administrative control grids make fleet oversight and database updates straightforward for operators.</a:t>
            </a:r>
          </a:p>
          <a:p>
            <a:pPr algn="ctr">
              <a:spcAft>
                <a:spcPts val="0"/>
              </a:spcAft>
              <a:defRPr sz="3600" b="1">
                <a:solidFill>
                  <a:srgbClr val="64FFDA"/>
                </a:solidFill>
                <a:latin typeface="Segoe U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1561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Akshay Mangalagiri</cp:lastModifiedBy>
  <cp:revision>2</cp:revision>
  <dcterms:created xsi:type="dcterms:W3CDTF">2013-01-27T09:14:16Z</dcterms:created>
  <dcterms:modified xsi:type="dcterms:W3CDTF">2026-06-15T16:21:29Z</dcterms:modified>
  <cp:category/>
</cp:coreProperties>
</file>